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11365992" cy="5989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Referral Revenue Calculation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Architecture walk-through | March 16,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E2A4A"/>
                </a:solidFill>
                <a:latin typeface="Aptos Display"/>
              </a:rPr>
              <a:t>Full workflow architecture</a:t>
            </a:r>
          </a:p>
          <a:p>
            <a:r>
              <a:rPr sz="1300">
                <a:solidFill>
                  <a:srgbClr val="5F7094"/>
                </a:solidFill>
                <a:latin typeface="Aptos"/>
              </a:rPr>
              <a:t>Frontend, backend, database, approvals, page-level functioning, and end-to-end monthly data movement.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202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7324A"/>
                </a:solidFill>
                <a:latin typeface="Aptos"/>
              </a:defRPr>
            </a:pPr>
            <a:r>
              <a:t>Frontend: index.php + public/app.js + public/styles.css</a:t>
            </a:r>
          </a:p>
          <a:p>
            <a:pPr>
              <a:spcAft>
                <a:spcPts val="1000"/>
              </a:spcAft>
              <a:defRPr sz="1200">
                <a:solidFill>
                  <a:srgbClr val="27324A"/>
                </a:solidFill>
                <a:latin typeface="Aptos"/>
              </a:defRPr>
            </a:pPr>
            <a:r>
              <a:t>Backend: api/index.php routing + api/lib.php schema, upload parsing, engine, reporting</a:t>
            </a:r>
          </a:p>
          <a:p>
            <a:pPr>
              <a:spcAft>
                <a:spcPts val="1000"/>
              </a:spcAft>
              <a:defRPr sz="1200">
                <a:solidFill>
                  <a:srgbClr val="27324A"/>
                </a:solidFill>
                <a:latin typeface="Aptos"/>
              </a:defRPr>
            </a:pPr>
            <a:r>
              <a:t>Database: SQLite file at data/app.db</a:t>
            </a:r>
          </a:p>
          <a:p>
            <a:pPr>
              <a:spcAft>
                <a:spcPts val="1000"/>
              </a:spcAft>
              <a:defRPr sz="1200">
                <a:solidFill>
                  <a:srgbClr val="27324A"/>
                </a:solidFill>
                <a:latin typeface="Aptos"/>
              </a:defRPr>
            </a:pPr>
            <a:r>
              <a:t>Current demo dataset: 5 users, 5 doctors, 2909 transactions, 3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526280"/>
            <a:ext cx="1783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4645152"/>
            <a:ext cx="164592" cy="164592"/>
          </a:xfrm>
          <a:prstGeom prst="roundRect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599432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Workflow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8231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27324A"/>
                </a:solidFill>
                <a:latin typeface="Aptos"/>
              </a:rPr>
              <a:t>7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4526280"/>
            <a:ext cx="1783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52928" y="4645152"/>
            <a:ext cx="164592" cy="164592"/>
          </a:xfrm>
          <a:prstGeom prst="roundRect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4599432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78231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27324A"/>
                </a:solidFill>
                <a:latin typeface="Aptos"/>
              </a:rPr>
              <a:t>4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1728" y="4526280"/>
            <a:ext cx="1783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73168" y="4645152"/>
            <a:ext cx="164592" cy="164592"/>
          </a:xfrm>
          <a:prstGeom prst="roundRect">
            <a:avLst/>
          </a:prstGeom>
          <a:solidFill>
            <a:srgbClr val="D28C18"/>
          </a:solidFill>
          <a:ln>
            <a:solidFill>
              <a:srgbClr val="D28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4599432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Approval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78231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27324A"/>
                </a:solidFill>
                <a:latin typeface="Aptos"/>
              </a:rPr>
              <a:t>5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051560"/>
            <a:ext cx="4754880" cy="452628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433957"/>
            <a:ext cx="4590288" cy="3761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1248" y="56692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7094"/>
                </a:solidFill>
                <a:latin typeface="Aptos"/>
              </a:rPr>
              <a:t>Purpose: explain how the tool starts, where each upload lands, how calculation runs, how approvals are applied, and how the month closes.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Component layout and runtime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How the application is structured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The product is a single-page frontend on top of PHP API endpoints and a local SQLite operational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103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956816"/>
            <a:ext cx="146304" cy="146304"/>
          </a:xfrm>
          <a:prstGeom prst="ellipse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01952"/>
            <a:ext cx="1700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Client / UI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39696"/>
            <a:ext cx="1883664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index.php boots the app shell.
public/app.js renders workflow pages and calls the API.
public/styles.css defines the compact responsive 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82880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18688" y="1956816"/>
            <a:ext cx="146304" cy="146304"/>
          </a:xfrm>
          <a:prstGeom prst="ellipse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1901952"/>
            <a:ext cx="18379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API / routing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2139696"/>
            <a:ext cx="2020824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api/index.php authenticates requests, enforces role access, handles uploads, exports, approvals, and payment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82880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24728" y="1956816"/>
            <a:ext cx="146304" cy="146304"/>
          </a:xfrm>
          <a:prstGeom prst="ellipse">
            <a:avLst/>
          </a:prstGeom>
          <a:solidFill>
            <a:srgbClr val="D28C18"/>
          </a:solidFill>
          <a:ln>
            <a:solidFill>
              <a:srgbClr val="D28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5896" y="1901952"/>
            <a:ext cx="18379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Business logic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2139696"/>
            <a:ext cx="2020824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api/lib.php owns schema creation, seed/demo data, Excel parsing, RRCP engine computation, payment generation, and migrations.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30768" y="1956816"/>
            <a:ext cx="146304" cy="146304"/>
          </a:xfrm>
          <a:prstGeom prst="ellipse">
            <a:avLst/>
          </a:prstGeom>
          <a:solidFill>
            <a:srgbClr val="C23F3F"/>
          </a:solidFill>
          <a:ln>
            <a:solidFill>
              <a:srgbClr val="C2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1936" y="1901952"/>
            <a:ext cx="23408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Persistence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2139696"/>
            <a:ext cx="2523744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data/app.db stores operational tables.
uploads/ stores incoming workbooks.
templates/ stores sample master formats.</a:t>
            </a:r>
          </a:p>
        </p:txBody>
      </p:sp>
      <p:sp>
        <p:nvSpPr>
          <p:cNvPr id="23" name="Chevron 22"/>
          <p:cNvSpPr/>
          <p:nvPr/>
        </p:nvSpPr>
        <p:spPr>
          <a:xfrm>
            <a:off x="2697480" y="2267712"/>
            <a:ext cx="347472" cy="438912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40864"/>
            <a:ext cx="11887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>API</a:t>
            </a:r>
          </a:p>
        </p:txBody>
      </p:sp>
      <p:sp>
        <p:nvSpPr>
          <p:cNvPr id="25" name="Chevron 24"/>
          <p:cNvSpPr/>
          <p:nvPr/>
        </p:nvSpPr>
        <p:spPr>
          <a:xfrm>
            <a:off x="5321808" y="2267712"/>
            <a:ext cx="347472" cy="438912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58968" y="2340864"/>
            <a:ext cx="11887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>Logic</a:t>
            </a:r>
          </a:p>
        </p:txBody>
      </p:sp>
      <p:sp>
        <p:nvSpPr>
          <p:cNvPr id="27" name="Chevron 26"/>
          <p:cNvSpPr/>
          <p:nvPr/>
        </p:nvSpPr>
        <p:spPr>
          <a:xfrm>
            <a:off x="7936992" y="2267712"/>
            <a:ext cx="347472" cy="438912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4152" y="2340864"/>
            <a:ext cx="11887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>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65760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657600"/>
            <a:ext cx="73152" cy="2331720"/>
          </a:xfrm>
          <a:prstGeom prst="rect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785616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Supported business inputs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096512"/>
            <a:ext cx="4919472" cy="181965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Special Discount Master.xlsx seeds service prices, discount rules, doctor master, incentive groups, and PRO assignments.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Software requirement.xlsx populates the rule checklist / requirement repository used for operating guidance.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Dashboard and incentive transaction workbooks populate normalized monthly intake rows in transactions.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User logins are managed in Setup Center and linked back to doctor_master for doctor-role scope restriction.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657600"/>
            <a:ext cx="5440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657600"/>
            <a:ext cx="73152" cy="2331720"/>
          </a:xfrm>
          <a:prstGeom prst="rect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85616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Why this layout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4096512"/>
            <a:ext cx="5148072" cy="181965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The frontend remains simple: one JS app, one stylesheet, workflow-first navigation.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The backend remains auditable: approval events and payment edits persist in dedicated tables.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The data model is compact enough for local deployment but structured enough for future migration to MySQL/Postgres if needed.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All monthly operations revolve around a predictable path: setup -&gt; intake -&gt; calculation -&gt; payout -&gt; reporting -&gt;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Roles And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Who uses what and where their data scope is enforced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Role model and navigation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The app is intentionally workflow-based, so each role sees the same monthly sequence with different permissions.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715000" cy="16824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1097280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837944"/>
            <a:ext cx="987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783080"/>
            <a:ext cx="2743200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37944" y="1837944"/>
            <a:ext cx="2633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Main responsibility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783080"/>
            <a:ext cx="1874519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837944"/>
            <a:ext cx="1764791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112264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157984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2112264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7944" y="2157984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Owns setup, approvals, payouts, month 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2112264"/>
            <a:ext cx="187451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157984"/>
            <a:ext cx="17647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Full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441448"/>
            <a:ext cx="109728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2487168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Mapper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2441448"/>
            <a:ext cx="274320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37944" y="248716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Maintains masters, doctor mapping, monthly intake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441448"/>
            <a:ext cx="1874519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2487168"/>
            <a:ext cx="17647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No final admin controls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77063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281635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Accountant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2770632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37944" y="281635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Runs calculation, reviews payouts, exports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2770632"/>
            <a:ext cx="187451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1144" y="2816352"/>
            <a:ext cx="17647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No user admin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099816"/>
            <a:ext cx="109728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" y="3145536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Doctor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80" y="3099816"/>
            <a:ext cx="274320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37944" y="3145536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Views own linked data and report output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3099816"/>
            <a:ext cx="1874519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1144" y="3145536"/>
            <a:ext cx="17647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Doctor-linked rows only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1783080"/>
            <a:ext cx="47548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1783080"/>
            <a:ext cx="73152" cy="1783080"/>
          </a:xfrm>
          <a:prstGeom prst="rect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2" y="1911096"/>
            <a:ext cx="4480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Workflow navigation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2221992"/>
            <a:ext cx="4462272" cy="127101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Overview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Setup Center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Monthly Intake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Calculation Review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Payout Center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Reports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3749039"/>
            <a:ext cx="4754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75120" y="3749039"/>
            <a:ext cx="73152" cy="2057400"/>
          </a:xfrm>
          <a:prstGeom prst="rect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9712" y="3877055"/>
            <a:ext cx="4480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Access control notes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9712" y="4187951"/>
            <a:ext cx="4462272" cy="154533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Doctor users must be linked to a doctor_master record; they cannot see unrelated doctors.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Approval actions remain admin-only even when the request was created by mapper or accountant.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Search and filtering are available across the major operational tables to reduce manual scrolling.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Month lock prevents fresh processing on closed periods once finance is 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Setup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Master data, team access, doctor governance, and request initiation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Setup Center: where the month is prepared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This page combines user maintenance, reference uploads, doctor verification, and approval-request creation.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3977639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73152" cy="4553712"/>
          </a:xfrm>
          <a:prstGeom prst="rect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37033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What happens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685031" cy="404164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Create or update users for admin, mapper, accountant, and doctor roles.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Upload Special Discount Master to refresh service_prices, discount_rules, and doctor_master.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Upload Software Requirements to refresh software_requirements.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Verify doctors and maintain fields such as incentive group, incentive cycle, reporting doctor, present PRO, and confirmation status.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Raise approval requests for PRO change, doctor-info change, and doctor addition before admin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64208"/>
            <a:ext cx="6903720" cy="4553712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tup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632" y="1746504"/>
            <a:ext cx="535621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Monthly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Normalization, validation, search, and export of transaction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Monthly Intake: where raw billing rows enter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Uploaded workbooks are parsed into normalized transaction records and kept searchable before the engine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4023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73152" cy="4572000"/>
          </a:xfrm>
          <a:prstGeom prst="rect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Data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730752" cy="405993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Input files: dashboard or incentive workbook for the selected month.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Parser maps patient ID, patient name, doctor, PRO, item, price, discount, net, total payment, payment method, and revenue booked center.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Each imported row lands in transactions with raw_json retained for audit and backfill repair.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Users can search across all visible table columns, paginate, and export a filtered CSV for offline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664208"/>
            <a:ext cx="6949440" cy="457200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nthly-in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614" y="1746504"/>
            <a:ext cx="5378531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Calculation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RRCP engine execution, flags, variance review, and payable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Calculation Review: how the monthly engine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The engine compares actual discount behavior against uploaded rules and doctor grouping to compute payable incentive.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4069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73152" cy="4572000"/>
          </a:xfrm>
          <a:prstGeom prst="rect">
            <a:avLst/>
          </a:prstGeom>
          <a:solidFill>
            <a:srgbClr val="D28C18"/>
          </a:solidFill>
          <a:ln>
            <a:solidFill>
              <a:srgbClr val="D28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3794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Engine inputs and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776472" cy="405993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Inputs: transactions for the chosen month + doctor_master + discount_rules + service_prices.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Output header: engine_runs stores run summary, counts, and total flags.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Output rows: engine_results stores doctor, group, PRO, modality/item, allowed discount, actual discount, variance, payable amount, and remarks.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Override of incentive amount raises an approval request rather than directly mutating payout value.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Productivity projection gives a quick PRO view of cases and suggested incentive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64208"/>
            <a:ext cx="6903720" cy="457200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culation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474" y="1746504"/>
            <a:ext cx="5378531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Payout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Payment entry creation, disbursal controls, handover tracking, and month 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Payout Center: from engine output to controlled disbursal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Payment rows are generated from engine results, then governed through approval, cash-in-hand checks, and timestamps.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4160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73152" cy="4572000"/>
          </a:xfrm>
          <a:prstGeom prst="rect">
            <a:avLst/>
          </a:prstGeom>
          <a:solidFill>
            <a:srgbClr val="C23F3F"/>
          </a:solidFill>
          <a:ln>
            <a:solidFill>
              <a:srgbClr val="C2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3886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Payout controls now 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867912" cy="405993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Creates payment entries from the selected engine run into payments.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Captures adjustment amount, advance payment, return of incentive, PRO cash in hand, manager cash in hand, cashier handover time, and PRO handover time.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Fresh disbursal is blocked when PRO or manager cash in hand is not zero.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Approval of disbursal stays in approval_requests and updates payment approval_status only after admin approval.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Date lock writes into locked_periods once the month is finalized.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664208"/>
            <a:ext cx="6766560" cy="457200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yout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054" y="1746504"/>
            <a:ext cx="5378531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Reports And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Exports, audit outputs, and issue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Reporting and support close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After payout review, users export audit files or raise structured support requests for correction and follow-up.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39319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73152" cy="4572000"/>
          </a:xfrm>
          <a:prstGeom prst="rect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What these pages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639312" cy="405993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Reports exports doctor-level or grouped CSV outputs from the latest run in the chosen period.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Doctor users are limited to their own linked individual report.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Support writes structured requests into contact_messages so admin can track mapping issues, payout clarification, and access problems.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These pages are the end-user output surface of the monthly cycle once processing is complete.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45920"/>
            <a:ext cx="3246120" cy="448056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623629"/>
            <a:ext cx="3081528" cy="252514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83879" y="1645920"/>
            <a:ext cx="3246120" cy="448056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5" y="2623629"/>
            <a:ext cx="3081528" cy="25251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Approval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Requests, admin decisions, and entity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Approval process from request to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Approval requests are stored centrally so every exception stays explicit and reviewable.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2011680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792224"/>
            <a:ext cx="19019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Approval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737360"/>
            <a:ext cx="1325880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2344" y="1792224"/>
            <a:ext cx="1216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Created from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737360"/>
            <a:ext cx="1691640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78224" y="1792224"/>
            <a:ext cx="1581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Applied 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066544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112264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change_of_pro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066544"/>
            <a:ext cx="1325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2344" y="2112264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Setup Center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066544"/>
            <a:ext cx="1691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78224" y="211226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doctor_master.present_pro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395728"/>
            <a:ext cx="201168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2441448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change_of_doctor_info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395728"/>
            <a:ext cx="132588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52344" y="2441448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Setup Center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2395728"/>
            <a:ext cx="169164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8224" y="2441448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doctor_master profile fields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724912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2770632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addition_of_doctor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2724912"/>
            <a:ext cx="1325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52344" y="2770632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Setup Center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2724912"/>
            <a:ext cx="1691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78224" y="2770632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new doctor_master row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054096"/>
            <a:ext cx="201168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" y="3099816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override_of_incentive_amount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3054096"/>
            <a:ext cx="132588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52344" y="3099816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Calculation Review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3054096"/>
            <a:ext cx="169164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78224" y="3099816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payments.amount after 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383279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3428999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approval_of_disbursal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80" y="3383279"/>
            <a:ext cx="1325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2344" y="3428999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Payout Center / seeded flow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3383279"/>
            <a:ext cx="1691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78224" y="3428999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payments.approval_status + payment status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17373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1737360"/>
            <a:ext cx="73152" cy="4434840"/>
          </a:xfrm>
          <a:prstGeom prst="rect">
            <a:avLst/>
          </a:prstGeom>
          <a:solidFill>
            <a:srgbClr val="D28C18"/>
          </a:solidFill>
          <a:ln>
            <a:solidFill>
              <a:srgbClr val="D28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1865376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Approval lifecycle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2176272"/>
            <a:ext cx="5056632" cy="392277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1. User raises request with payload_json and requester identity.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2. Request is stored in approval_requests with pending status.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3. Admin reviews readable payload details in the approval table.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4. Approve = backend mutates target entity and stamps approved_by.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5. Reject = request is kept for audit with rejected state, without applying business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Data Model And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Where data starts, where it lands, and what each table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Core tables and how data moves between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This is the operational spine of the application. Every page writes to, reads from, or derives from these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394960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1508760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46504"/>
            <a:ext cx="1399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7128" y="1691640"/>
            <a:ext cx="3794760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2" y="1746504"/>
            <a:ext cx="3685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20824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66544"/>
            <a:ext cx="1399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7128" y="2020824"/>
            <a:ext cx="3794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1992" y="2066544"/>
            <a:ext cx="3685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Login identities, role, linked doctor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350008"/>
            <a:ext cx="150876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395728"/>
            <a:ext cx="1399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doctor_master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2350008"/>
            <a:ext cx="379476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21992" y="2395728"/>
            <a:ext cx="3685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Doctor profile, PRO, group, cycle,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79192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724912"/>
            <a:ext cx="1399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service_prices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679192"/>
            <a:ext cx="3794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1992" y="2724912"/>
            <a:ext cx="3685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Uploaded service price 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008376"/>
            <a:ext cx="150876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054096"/>
            <a:ext cx="1399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discount_rules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67128" y="3008376"/>
            <a:ext cx="379476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21992" y="3054096"/>
            <a:ext cx="3685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Discount ceilings per item / group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37559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383279"/>
            <a:ext cx="1399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software_requirements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67128" y="3337559"/>
            <a:ext cx="3794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21992" y="3383279"/>
            <a:ext cx="3685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Operating requirement checklist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666744"/>
            <a:ext cx="150876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712464"/>
            <a:ext cx="1399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transactions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67128" y="3666744"/>
            <a:ext cx="379476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21992" y="3712464"/>
            <a:ext cx="3685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Normalized billing intake rows with raw_json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691640"/>
            <a:ext cx="5349240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1691640"/>
            <a:ext cx="1645920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7064" y="1746504"/>
            <a:ext cx="15361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Table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1691640"/>
            <a:ext cx="3703320" cy="329184"/>
          </a:xfrm>
          <a:prstGeom prst="rect">
            <a:avLst/>
          </a:prstGeom>
          <a:solidFill>
            <a:srgbClr val="ECF2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72984" y="1746504"/>
            <a:ext cx="35935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E2A4A"/>
                </a:solidFill>
                <a:latin typeface="Aptos"/>
              </a:rPr>
              <a:t>Purpose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2020824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7064" y="206654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engine_runs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2020824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72984" y="2066544"/>
            <a:ext cx="3593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One summary per calculation run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2350008"/>
            <a:ext cx="164592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27064" y="2395728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engine_results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8120" y="2350008"/>
            <a:ext cx="370332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72984" y="2395728"/>
            <a:ext cx="3593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Row-level allowed vs actual discount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2679192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27064" y="272491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payments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2679192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72984" y="2724912"/>
            <a:ext cx="3593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Disbursal records and finance adjustments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008376"/>
            <a:ext cx="164592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27064" y="3054096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approval_requests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3008376"/>
            <a:ext cx="370332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72984" y="3054096"/>
            <a:ext cx="3593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Exception and approval workflow queue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3337559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27064" y="3383279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locked_periods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18120" y="3337559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72984" y="3383279"/>
            <a:ext cx="3593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Month close control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3666744"/>
            <a:ext cx="164592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27064" y="371246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contact_messages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18120" y="3666744"/>
            <a:ext cx="3703320" cy="329184"/>
          </a:xfrm>
          <a:prstGeom prst="rect">
            <a:avLst/>
          </a:prstGeom>
          <a:solidFill>
            <a:srgbClr val="F7F9FD"/>
          </a:solidFill>
          <a:ln w="635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72984" y="3712464"/>
            <a:ext cx="3593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7324A"/>
                </a:solidFill>
                <a:latin typeface="Aptos"/>
              </a:rPr>
              <a:t>Support inbox items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" y="562356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14400" y="5742432"/>
            <a:ext cx="164592" cy="164592"/>
          </a:xfrm>
          <a:prstGeom prst="roundRect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70432" y="5696712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Transactions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0432" y="5879592"/>
            <a:ext cx="1143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27324A"/>
                </a:solidFill>
                <a:latin typeface="Aptos"/>
              </a:rPr>
              <a:t>2,909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514600" y="562356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606040" y="5742432"/>
            <a:ext cx="164592" cy="164592"/>
          </a:xfrm>
          <a:prstGeom prst="roundRect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62072" y="56967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Doctors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62072" y="5879592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27324A"/>
                </a:solidFill>
                <a:latin typeface="Aptos"/>
              </a:rPr>
              <a:t>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60520" y="562356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251960" y="5742432"/>
            <a:ext cx="164592" cy="164592"/>
          </a:xfrm>
          <a:prstGeom prst="roundRect">
            <a:avLst/>
          </a:prstGeom>
          <a:solidFill>
            <a:srgbClr val="D28C18"/>
          </a:solidFill>
          <a:ln>
            <a:solidFill>
              <a:srgbClr val="D28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07992" y="5696712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Approvals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07992" y="587959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27324A"/>
                </a:solidFill>
                <a:latin typeface="Aptos"/>
              </a:rPr>
              <a:t>3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0" y="562356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406640" y="5742432"/>
            <a:ext cx="164592" cy="164592"/>
          </a:xfrm>
          <a:prstGeom prst="roundRect">
            <a:avLst/>
          </a:prstGeom>
          <a:solidFill>
            <a:srgbClr val="C23F3F"/>
          </a:solidFill>
          <a:ln>
            <a:solidFill>
              <a:srgbClr val="C2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62672" y="56967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Payments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62672" y="5879592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27324A"/>
                </a:solidFill>
                <a:latin typeface="Aptos"/>
              </a:rPr>
              <a:t>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61120" y="5623560"/>
            <a:ext cx="1783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052560" y="5742432"/>
            <a:ext cx="164592" cy="164592"/>
          </a:xfrm>
          <a:prstGeom prst="roundRect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08592" y="5696712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Engine runs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08592" y="587959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27324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Monthly 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How the process starts and how it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Start-to-end monthly operating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This is the practical path the team follows each month from incoming files to finalized disbursal and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956816"/>
            <a:ext cx="146304" cy="146304"/>
          </a:xfrm>
          <a:prstGeom prst="ellipse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1.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Upload master files and verify doctor ownership.</a:t>
            </a:r>
          </a:p>
        </p:txBody>
      </p:sp>
      <p:sp>
        <p:nvSpPr>
          <p:cNvPr id="11" name="Chevron 10"/>
          <p:cNvSpPr/>
          <p:nvPr/>
        </p:nvSpPr>
        <p:spPr>
          <a:xfrm>
            <a:off x="1746504" y="2249424"/>
            <a:ext cx="73152" cy="329184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83664" y="2322576"/>
            <a:ext cx="-15544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9656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9384" y="1956816"/>
            <a:ext cx="146304" cy="146304"/>
          </a:xfrm>
          <a:prstGeom prst="ellipse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0552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2.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9384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Create users and link doctor logins where needed.</a:t>
            </a:r>
          </a:p>
        </p:txBody>
      </p:sp>
      <p:sp>
        <p:nvSpPr>
          <p:cNvPr id="17" name="Chevron 16"/>
          <p:cNvSpPr/>
          <p:nvPr/>
        </p:nvSpPr>
        <p:spPr>
          <a:xfrm>
            <a:off x="2907792" y="2249424"/>
            <a:ext cx="73152" cy="329184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2322576"/>
            <a:ext cx="-15544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80944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90672" y="1956816"/>
            <a:ext cx="146304" cy="146304"/>
          </a:xfrm>
          <a:prstGeom prst="ellipse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3. Intake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Upload dashboard/incentive workbooks into transactions.</a:t>
            </a:r>
          </a:p>
        </p:txBody>
      </p:sp>
      <p:sp>
        <p:nvSpPr>
          <p:cNvPr id="23" name="Chevron 22"/>
          <p:cNvSpPr/>
          <p:nvPr/>
        </p:nvSpPr>
        <p:spPr>
          <a:xfrm>
            <a:off x="4069080" y="2249424"/>
            <a:ext cx="73152" cy="329184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2322576"/>
            <a:ext cx="-15544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42232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51960" y="1956816"/>
            <a:ext cx="146304" cy="146304"/>
          </a:xfrm>
          <a:prstGeom prst="ellipse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4. 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Search, paginate, and export intake rows for checking.</a:t>
            </a:r>
          </a:p>
        </p:txBody>
      </p:sp>
      <p:sp>
        <p:nvSpPr>
          <p:cNvPr id="29" name="Chevron 28"/>
          <p:cNvSpPr/>
          <p:nvPr/>
        </p:nvSpPr>
        <p:spPr>
          <a:xfrm>
            <a:off x="5230368" y="2249424"/>
            <a:ext cx="73152" cy="329184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67528" y="2322576"/>
            <a:ext cx="-15544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13248" y="1956816"/>
            <a:ext cx="146304" cy="146304"/>
          </a:xfrm>
          <a:prstGeom prst="ellipse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14416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5. Calculate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Run RRCP engine to produce engine_runs and engine_results.</a:t>
            </a:r>
          </a:p>
        </p:txBody>
      </p:sp>
      <p:sp>
        <p:nvSpPr>
          <p:cNvPr id="35" name="Chevron 34"/>
          <p:cNvSpPr/>
          <p:nvPr/>
        </p:nvSpPr>
        <p:spPr>
          <a:xfrm>
            <a:off x="6391656" y="2249424"/>
            <a:ext cx="73152" cy="329184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2322576"/>
            <a:ext cx="-15544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64808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74536" y="1956816"/>
            <a:ext cx="146304" cy="146304"/>
          </a:xfrm>
          <a:prstGeom prst="ellipse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75704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6.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4536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Check flags, variance, remarks, and productivity.</a:t>
            </a:r>
          </a:p>
        </p:txBody>
      </p:sp>
      <p:sp>
        <p:nvSpPr>
          <p:cNvPr id="41" name="Chevron 40"/>
          <p:cNvSpPr/>
          <p:nvPr/>
        </p:nvSpPr>
        <p:spPr>
          <a:xfrm>
            <a:off x="7552944" y="2249424"/>
            <a:ext cx="73152" cy="329184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90104" y="2322576"/>
            <a:ext cx="-15544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6096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35824" y="1956816"/>
            <a:ext cx="146304" cy="146304"/>
          </a:xfrm>
          <a:prstGeom prst="ellipse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36992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7. Payout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35824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Generate payments and capture finance adjustments.</a:t>
            </a:r>
          </a:p>
        </p:txBody>
      </p:sp>
      <p:sp>
        <p:nvSpPr>
          <p:cNvPr id="47" name="Chevron 46"/>
          <p:cNvSpPr/>
          <p:nvPr/>
        </p:nvSpPr>
        <p:spPr>
          <a:xfrm>
            <a:off x="8714232" y="2249424"/>
            <a:ext cx="73152" cy="329184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51392" y="2322576"/>
            <a:ext cx="-15544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87384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97112" y="1956816"/>
            <a:ext cx="146304" cy="146304"/>
          </a:xfrm>
          <a:prstGeom prst="ellipse">
            <a:avLst/>
          </a:prstGeom>
          <a:solidFill>
            <a:srgbClr val="D28C18"/>
          </a:solidFill>
          <a:ln>
            <a:solidFill>
              <a:srgbClr val="D28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8. Approve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97112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Approve doctor changes, overrides, and disbursal.</a:t>
            </a:r>
          </a:p>
        </p:txBody>
      </p:sp>
      <p:sp>
        <p:nvSpPr>
          <p:cNvPr id="53" name="Chevron 52"/>
          <p:cNvSpPr/>
          <p:nvPr/>
        </p:nvSpPr>
        <p:spPr>
          <a:xfrm>
            <a:off x="9875520" y="2249424"/>
            <a:ext cx="73152" cy="329184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12680" y="2322576"/>
            <a:ext cx="-15544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8672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58400" y="1956816"/>
            <a:ext cx="146304" cy="146304"/>
          </a:xfrm>
          <a:prstGeom prst="ellipse">
            <a:avLst/>
          </a:prstGeom>
          <a:solidFill>
            <a:srgbClr val="D28C18"/>
          </a:solidFill>
          <a:ln>
            <a:solidFill>
              <a:srgbClr val="D28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59568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9. Close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Disburse, lock the month, and preserve audit state.</a:t>
            </a:r>
          </a:p>
        </p:txBody>
      </p:sp>
      <p:sp>
        <p:nvSpPr>
          <p:cNvPr id="59" name="Chevron 58"/>
          <p:cNvSpPr/>
          <p:nvPr/>
        </p:nvSpPr>
        <p:spPr>
          <a:xfrm>
            <a:off x="11036808" y="2249424"/>
            <a:ext cx="73152" cy="329184"/>
          </a:xfrm>
          <a:prstGeom prst="chevron">
            <a:avLst/>
          </a:prstGeom>
          <a:solidFill>
            <a:srgbClr val="ECF2FF"/>
          </a:solidFill>
          <a:ln w="12700"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173968" y="2322576"/>
            <a:ext cx="-15544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>
                <a:solidFill>
                  <a:srgbClr val="1E2A4A"/>
                </a:solidFill>
                <a:latin typeface="Aptos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109960" y="1828800"/>
            <a:ext cx="10789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219688" y="1956816"/>
            <a:ext cx="146304" cy="146304"/>
          </a:xfrm>
          <a:prstGeom prst="ellipse">
            <a:avLst/>
          </a:prstGeom>
          <a:solidFill>
            <a:srgbClr val="C23F3F"/>
          </a:solidFill>
          <a:ln>
            <a:solidFill>
              <a:srgbClr val="C2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20856" y="1901952"/>
            <a:ext cx="676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7324A"/>
                </a:solidFill>
                <a:latin typeface="Aptos"/>
              </a:rPr>
              <a:t>10. Output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19688" y="2139696"/>
            <a:ext cx="859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F7094"/>
                </a:solidFill>
                <a:latin typeface="Aptos"/>
              </a:rPr>
              <a:t>Export reports or raise support corrections.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7240" y="3703320"/>
            <a:ext cx="5212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7240" y="3703320"/>
            <a:ext cx="73152" cy="1783080"/>
          </a:xfrm>
          <a:prstGeom prst="rect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1832" y="3831336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Where the process starts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" y="4142232"/>
            <a:ext cx="4919472" cy="127101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Reference masters and transaction workbooks are the primary starting inputs.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Without updated doctor mapping and discount rules, the engine output is unreliable.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3703320"/>
            <a:ext cx="5212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17920" y="3703320"/>
            <a:ext cx="73152" cy="1783080"/>
          </a:xfrm>
          <a:prstGeom prst="rect">
            <a:avLst/>
          </a:prstGeom>
          <a:solidFill>
            <a:srgbClr val="C23F3F"/>
          </a:solidFill>
          <a:ln>
            <a:solidFill>
              <a:srgbClr val="C2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82512" y="3831336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Where the process ends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82512" y="4142232"/>
            <a:ext cx="4919472" cy="127101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The month ends with approved payouts, locked period control, exported reports, and any unresolved issues parked in support.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Every exception remains queryable through approvals, payment notes, and preserved raw intake rows.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A4A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Aptos Display"/>
              </a:rPr>
              <a:t>Next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55448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8E2FA"/>
                </a:solidFill>
                <a:latin typeface="Aptos"/>
              </a:rPr>
              <a:t>What is still worth doing after this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2A4A"/>
                </a:solidFill>
                <a:latin typeface="Aptos Display"/>
              </a:rPr>
              <a:t>Recommended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F7094"/>
                </a:solidFill>
                <a:latin typeface="Aptos"/>
              </a:rPr>
              <a:t>The app is operational, but a few targeted improvements would reduce future operational risk and manual cleanup.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4526280"/>
          </a:xfrm>
          <a:prstGeom prst="rect">
            <a:avLst/>
          </a:prstGeom>
          <a:solidFill>
            <a:srgbClr val="315EFB"/>
          </a:solidFill>
          <a:ln>
            <a:solidFill>
              <a:srgbClr val="315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65376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Highest-value next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76272"/>
            <a:ext cx="4965192" cy="401421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Add duplicate-upload prevention so the same monthly workbook cannot inflate transactions twice.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Add a dedicated audit log timeline for approval decisions, payout edits, and doctor profile changes.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Add stricter upload validators with row-level error download for master files and monthly intake files.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Add richer reports in Excel/PDF format beyond CSV if stakeholders need presentation-ready output.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Add automated scheduled export or monthly deck generation once the workflow stabilizes.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73152" cy="4526280"/>
          </a:xfrm>
          <a:prstGeom prst="rect">
            <a:avLst/>
          </a:prstGeom>
          <a:solidFill>
            <a:srgbClr val="2A9B60"/>
          </a:solidFill>
          <a:ln>
            <a:solidFill>
              <a:srgbClr val="2A9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65376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7324A"/>
                </a:solidFill>
                <a:latin typeface="Aptos"/>
              </a:rPr>
              <a:t>Status after this handoff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176272"/>
            <a:ext cx="4965192" cy="401421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Workflow pages are compacted and aligned to the monthly process.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Architecture screenshots are captured from the live local app state.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This PPT can be regenerated using the scripts in scripts/capture_architecture_screenshots.py and scripts/build_architecture_ppt.py.</a:t>
            </a:r>
          </a:p>
          <a:p>
            <a:pPr>
              <a:spcAft>
                <a:spcPts val="700"/>
              </a:spcAft>
              <a:defRPr sz="1150">
                <a:solidFill>
                  <a:srgbClr val="27324A"/>
                </a:solidFill>
                <a:latin typeface="Aptos"/>
              </a:defRPr>
            </a:pPr>
            <a:r>
              <a:t>Generated output path: artifacts/architecture/RRCP_Architecture_Walkthrough.pptx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